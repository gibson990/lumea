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658368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80160" y="1097280"/>
            <a:ext cx="2743200" cy="365760"/>
          </a:xfrm>
          <a:prstGeom prst="round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94B68"/>
                </a:solidFill>
                <a:latin typeface="Calibri"/>
              </a:rPr>
              <a:t>BEAUTY TECH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B2024"/>
                </a:solidFill>
                <a:latin typeface="Georgia"/>
              </a:rPr>
              <a:t>LUMÉA</a:t>
            </a:r>
          </a:p>
          <a:p>
            <a:r>
              <a:rPr sz="2200" i="1">
                <a:solidFill>
                  <a:srgbClr val="D96C8A"/>
                </a:solidFill>
                <a:latin typeface="Georgia"/>
              </a:rPr>
              <a:t>Glow, your way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B4146"/>
                </a:solidFill>
                <a:latin typeface="Calibri"/>
              </a:rPr>
              <a:t>A Modern Single-Product Beauty E-Commerce Platform
React 18 · Node.js Express · MySQL ·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931920"/>
            <a:ext cx="5852160" cy="1828800"/>
          </a:xfrm>
          <a:prstGeom prst="roundRect">
            <a:avLst/>
          </a:prstGeom>
          <a:solidFill>
            <a:srgbClr val="FFF8FA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40233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B2024"/>
                </a:solidFill>
                <a:latin typeface="Calibri"/>
              </a:rPr>
              <a:t>Project by: </a:t>
            </a:r>
            <a:r>
              <a:rPr sz="1050">
                <a:solidFill>
                  <a:srgbClr val="2B2024"/>
                </a:solidFill>
                <a:latin typeface="Calibri"/>
              </a:rPr>
              <a:t>Kichu Khoirom (University Roll No. 2433548)
</a:t>
            </a:r>
            <a:r>
              <a:rPr sz="1050" b="1">
                <a:solidFill>
                  <a:srgbClr val="2B2024"/>
                </a:solidFill>
                <a:latin typeface="Calibri"/>
              </a:rPr>
              <a:t>Degree: </a:t>
            </a:r>
            <a:r>
              <a:rPr sz="1050">
                <a:solidFill>
                  <a:srgbClr val="2B2024"/>
                </a:solidFill>
                <a:latin typeface="Calibri"/>
              </a:rPr>
              <a:t>Bachelor of Computer Applications (BCA)
</a:t>
            </a:r>
            <a:r>
              <a:rPr sz="1050" b="1">
                <a:solidFill>
                  <a:srgbClr val="2B2024"/>
                </a:solidFill>
                <a:latin typeface="Calibri"/>
              </a:rPr>
              <a:t>Institution: </a:t>
            </a:r>
            <a:r>
              <a:rPr sz="1050">
                <a:solidFill>
                  <a:srgbClr val="2B2024"/>
                </a:solidFill>
                <a:latin typeface="Calibri"/>
              </a:rPr>
              <a:t>Gulzar Group of Institutions, Khanna, Punjab
</a:t>
            </a:r>
            <a:r>
              <a:rPr sz="1050" b="1">
                <a:solidFill>
                  <a:srgbClr val="2B2024"/>
                </a:solidFill>
                <a:latin typeface="Calibri"/>
              </a:rPr>
              <a:t>Industry Internship: </a:t>
            </a:r>
            <a:r>
              <a:rPr sz="1050">
                <a:solidFill>
                  <a:srgbClr val="2B2024"/>
                </a:solidFill>
                <a:latin typeface="Calibri"/>
              </a:rPr>
              <a:t>Viro Web Solution (Web Development)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731520"/>
            <a:ext cx="365760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umea_hero_t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09728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 FLAGSHIP COSMETIC SHOWCASE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The Product — Luméa Glow Tint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5836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94B68"/>
                </a:solidFill>
                <a:latin typeface="Georgia"/>
              </a:rPr>
              <a:t>🌸 Multifunctional Formula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B4146"/>
                </a:solidFill>
                <a:latin typeface="Calibri"/>
              </a:rPr>
              <a:t>A silky cream tint engineered to melt seamlessly into the skin for an effortless, buildable flush on cheeks, lips, and eyelids. Replaces 3 cosmetic products in 1 pocket-sized 8g component.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65836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94B68"/>
                </a:solidFill>
                <a:latin typeface="Georgia"/>
              </a:rPr>
              <a:t>🌿 Clean &amp; Conscious Beauty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B4146"/>
                </a:solidFill>
                <a:latin typeface="Calibri"/>
              </a:rPr>
              <a:t>Formulated with 100% vegan botanical waxes, cruelty-free certification, zero mineral oils, and enriched with hydrating jojoba and squalane for 12-hour continuous skin dewiness.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658368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94B68"/>
                </a:solidFill>
                <a:latin typeface="Georgia"/>
              </a:rPr>
              <a:t>💎 Approachable Luxury (₹799)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4B4146"/>
                </a:solidFill>
                <a:latin typeface="Calibri"/>
              </a:rPr>
              <a:t>Direct-to-consumer pricing with zero retail middleman markups. Ships free across India with Cash on Delivery (COD) support and a guaranteed 4.9★ customer satisfaction rating.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38404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ig_7_2_specs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37360"/>
            <a:ext cx="3474720" cy="21053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✦SHADE SPECTRUM &amp; INCLUSIVITY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Curated Color Palette — 6 Signature Shades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1828800"/>
            <a:ext cx="594360" cy="594360"/>
          </a:xfrm>
          <a:prstGeom prst="ellipse">
            <a:avLst/>
          </a:prstGeom>
          <a:solidFill>
            <a:srgbClr val="D982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Rose Petal</a:t>
            </a:r>
          </a:p>
          <a:p>
            <a:r>
              <a:rPr sz="950" b="1">
                <a:solidFill>
                  <a:srgbClr val="D96C8A"/>
                </a:solidFill>
              </a:rPr>
              <a:t>#D9828B · Soft Rosy Pink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4B4146"/>
                </a:solidFill>
              </a:rPr>
              <a:t>Universal everyday blush for cool to neutral undertones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1828800"/>
            <a:ext cx="594360" cy="594360"/>
          </a:xfrm>
          <a:prstGeom prst="ellipse">
            <a:avLst/>
          </a:prstGeom>
          <a:solidFill>
            <a:srgbClr val="EFA07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Peach Bloom</a:t>
            </a:r>
          </a:p>
          <a:p>
            <a:r>
              <a:rPr sz="950" b="1">
                <a:solidFill>
                  <a:srgbClr val="D96C8A"/>
                </a:solidFill>
              </a:rPr>
              <a:t>#EFA07F · Warm Coral Peach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4B4146"/>
                </a:solidFill>
              </a:rPr>
              <a:t>Sun-kissed radiance ideal for light to medium warm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321040" y="1828800"/>
            <a:ext cx="594360" cy="594360"/>
          </a:xfrm>
          <a:prstGeom prst="ellipse">
            <a:avLst/>
          </a:prstGeom>
          <a:solidFill>
            <a:srgbClr val="A94B6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178308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Berry Kiss</a:t>
            </a:r>
          </a:p>
          <a:p>
            <a:r>
              <a:rPr sz="950" b="1">
                <a:solidFill>
                  <a:srgbClr val="D96C8A"/>
                </a:solidFill>
              </a:rPr>
              <a:t>#A94B68 · Deep Rich Plum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4B4146"/>
                </a:solidFill>
              </a:rPr>
              <a:t>Bold romantic statement tint for medium to deep undertones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206240"/>
            <a:ext cx="594360" cy="594360"/>
          </a:xfrm>
          <a:prstGeom prst="ellipse">
            <a:avLst/>
          </a:prstGeom>
          <a:solidFill>
            <a:srgbClr val="E8797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Soft Coral</a:t>
            </a:r>
          </a:p>
          <a:p>
            <a:r>
              <a:rPr sz="950" b="1">
                <a:solidFill>
                  <a:srgbClr val="D96C8A"/>
                </a:solidFill>
              </a:rPr>
              <a:t>#E87970 · Fresh Coral Tangerine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4B4146"/>
                </a:solidFill>
              </a:rPr>
              <a:t>Lively playful flush perfect for daytime lip and cheek glow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663440" y="4206240"/>
            <a:ext cx="594360" cy="594360"/>
          </a:xfrm>
          <a:prstGeom prst="ellipse">
            <a:avLst/>
          </a:prstGeom>
          <a:solidFill>
            <a:srgbClr val="B9786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9496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Nude Glow</a:t>
            </a:r>
          </a:p>
          <a:p>
            <a:r>
              <a:rPr sz="950" b="1">
                <a:solidFill>
                  <a:srgbClr val="D96C8A"/>
                </a:solidFill>
              </a:rPr>
              <a:t>#B97862 · Warm Terracotta Nude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4B4146"/>
                </a:solidFill>
              </a:rPr>
              <a:t>Subtle sculpted neutral giving natural 'no-makeup' definition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3832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rgbClr val="E8A5B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416052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Pink Champagne</a:t>
            </a:r>
          </a:p>
          <a:p>
            <a:r>
              <a:rPr sz="950" b="1">
                <a:solidFill>
                  <a:srgbClr val="D96C8A"/>
                </a:solidFill>
              </a:rPr>
              <a:t>#E8A5B5 · Shimmer Mauve Pink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4B4146"/>
                </a:solidFill>
              </a:rPr>
              <a:t>Dewy highlighted glow with ultra-fine light-reflecting mica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✦PROBLEM &amp; SOLUTION ANALYSIS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Market Challenge vs. The Luméa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E283C"/>
                </a:solidFill>
                <a:latin typeface="Georgia"/>
              </a:rPr>
              <a:t>❌ Traditional Cosmetic E-Commerce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4B4146"/>
                </a:solidFill>
                <a:latin typeface="Calibri"/>
              </a:rPr>
              <a:t>• Catalog Clutter: Overwhelming marketplaces with hundreds of unrelated products cause severe decision fatigue.
• Shade Hesitation: Static studio photos don't demonstrate shade warmth or skin undertone matching.
• Painful Checkout: Mandatory multi-page logins, hidden shipping fees, and broken UPI options lead to 70%+ cart drop-offs.
• Post-Purchase Anxiety: No live tracking visibility once an order is confirmed.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6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94B68"/>
                </a:solidFill>
                <a:latin typeface="Georgia"/>
              </a:rPr>
              <a:t>✨ The Luméa Single-Product Experience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4B4146"/>
                </a:solidFill>
                <a:latin typeface="Calibri"/>
              </a:rPr>
              <a:t>• Laser-Focused D2C Storytelling: One hero formula perfected across 6 universally flattering shades.
• Live Swatch Synchronizer: Clicking any shade instantly switches photography, ambient glow, and inventory count.
• Frictionless Checkout: 1-click bag drawer, transparent pricing (₹799 with Free Shipping), and reliable Cash on Delivery.
• Total Transparency: Real-time 5-stage fulfillment stepper + self-service order cancellation &amp; ticket desk.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 ENGINEERING FOUNDATION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Full-Stack Technology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⚡ React 18 + Vite 5.4</a:t>
            </a:r>
          </a:p>
          <a:p>
            <a:r>
              <a:rPr sz="950">
                <a:solidFill>
                  <a:srgbClr val="4B4146"/>
                </a:solidFill>
                <a:latin typeface="Calibri"/>
              </a:rPr>
              <a:t>Single-Page Application frontend with declarative component hierarchy, custom context hooks (Cart, Auth, Notifications), and sub-second HMR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53035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34639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⚡ Tailwind CSS 3.4</a:t>
            </a:r>
          </a:p>
          <a:p>
            <a:r>
              <a:rPr sz="950">
                <a:solidFill>
                  <a:srgbClr val="4B4146"/>
                </a:solidFill>
                <a:latin typeface="Calibri"/>
              </a:rPr>
              <a:t>Utility-first design system with customized tokens (#FFF8FA, #D96C8A, #2B2024), 60 FPS mobile transforms, and zero layout drag.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3035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⚡ Node.js &amp; Express REST API</a:t>
            </a:r>
          </a:p>
          <a:p>
            <a:r>
              <a:rPr sz="950">
                <a:solidFill>
                  <a:srgbClr val="4B4146"/>
                </a:solidFill>
                <a:latin typeface="Calibri"/>
              </a:rPr>
              <a:t>Asynchronous non-blocking backend server orchestrating products, orders, support tickets, and role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530352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⚡ MySQL 8.0 + In-Memory Fallback</a:t>
            </a:r>
          </a:p>
          <a:p>
            <a:r>
              <a:rPr sz="950">
                <a:solidFill>
                  <a:srgbClr val="4B4146"/>
                </a:solidFill>
                <a:latin typeface="Calibri"/>
              </a:rPr>
              <a:t>Relational database in 3NF with automated zero-downtime fallback to an in-memory replica if database is unconfigured.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low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754880" cy="1711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✦FRONTEND INTERACTIVITY &amp;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Interactive Storefront &amp; Swatch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B2024"/>
                </a:solidFill>
                <a:latin typeface="Georgia"/>
              </a:rPr>
              <a:t>Customer Journey Highlights: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B4146"/>
                </a:solidFill>
                <a:latin typeface="Calibri"/>
              </a:rPr>
              <a:t>1. Real-Time Swatch Switching:
Selecting any color swatch instantly updates the product photography, switches the ambient background glow, and renders stock availability.
2. Formula &amp; Benefits Breakdown:
Dedicated sections showcase clean botanical ingredients (jojoba, squalane), cruelty-free pledge, and customer testimonials.
3. Persistent Cart Drawer:
An off-canvas bag slides into view with live quantity controls, subtotal calculations, and free delivery indicators across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554480"/>
            <a:ext cx="54864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7_1_storefron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120640" cy="3102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✦TRANSACTIONAL INTEGRITY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Checkout, Fulfillment &amp; Order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937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🚚 Frictionless Checkout Flow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• Validates name, phone, city, and shipping address.
• Zero surprise fees: transparent ₹799 subtotal with free shipping.
• Active Cash on Delivery (COD) + friendly maintenance banner for UPI online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49377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📦 5-Stage Visual Order Stepper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• Search by order code (e.g. #LM1024) to inspect live progress.
• Visual Stepper: Pending ➔ Confirmed ➔ Processing ➔ Shipped ➔ Delivered.
• Customer Self-Cancellation: Allowed during pending state; restores inventory units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554480"/>
            <a:ext cx="54864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ig_7_6_track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120640" cy="31025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ROLE-BASED SECURITY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Administrative Control &amp; RBAC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B2024"/>
                </a:solidFill>
                <a:latin typeface="Georgia"/>
              </a:rPr>
              <a:t>Role-Based Access Hierarchy:</a:t>
            </a:r>
          </a:p>
          <a:p>
            <a:pPr>
              <a:spcBef>
                <a:spcPts val="8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1. Super Admin (kichuKhoirom@gmail.com):
• Full administrative rights.
• Promote customers to Sub-Admin, demote roles, delete users.
• Access real-time revenue KPIs and support tickets.
2. Sub-Admin (pardeepsign@gmail.com):
• Order status management (update to Confirmed/Shipped).
• Customer support ticket resolution.
• Product inventory inspection.
3. Customer (james@gmail.com):
• Storefront shopping, order tracking, and ticket submission.
• Access to /admin is strictly blocked by Route Guard.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_7_8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4937760" cy="29917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D96C8A"/>
                </a:solidFill>
                <a:latin typeface="Calibri"/>
              </a:rPr>
              <a:t>STABILITY &amp; RESILIENCE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Performance Profiling &amp; Fault Tolerance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7665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94B68"/>
                </a:solidFill>
                <a:latin typeface="Georgia"/>
              </a:rPr>
              <a:t>⚡ 60 FPS Mobile Optimization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B4146"/>
                </a:solidFill>
                <a:latin typeface="Calibri"/>
              </a:rPr>
              <a:t>Heavyweight CSS backdrop-filter blurs were eliminated from general cards. On screens &lt;= 640px, blurs are disabled entirely; on desktop, blur is isolated to the sticky header and hardware-accelerated with translateZ(0). Zero jank or drag.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67665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94B68"/>
                </a:solidFill>
                <a:latin typeface="Georgia"/>
              </a:rPr>
              <a:t>🛡️ Multi-Tier Error Containment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B4146"/>
                </a:solidFill>
                <a:latin typeface="Calibri"/>
              </a:rPr>
              <a:t>Custom 404 Page renders a luxury gradient numeral with store recovery CTAs; dedicated /503 page offers retry connectivity; root-level React ErrorBoundary prevents blank-screen whiteouts.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676656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93775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94B68"/>
                </a:solidFill>
                <a:latin typeface="Georgia"/>
              </a:rPr>
              <a:t>🔄 Zero-Downtime Database Fallback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4B4146"/>
                </a:solidFill>
                <a:latin typeface="Calibri"/>
              </a:rPr>
              <a:t>If the local MySQL database is offline or unconfigured, the backend automatically transitions to an in-memory replica pre-loaded with products, variants, sample orders, and user roles.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554480"/>
            <a:ext cx="365760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ig_7_11_mobil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737360"/>
            <a:ext cx="2377440" cy="5145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6C8A"/>
                </a:solidFill>
                <a:latin typeface="Calibri"/>
              </a:rPr>
              <a:t>WHAT'S </a:t>
            </a:r>
            <a:r>
              <a:rPr sz="1000" b="1" dirty="0">
                <a:solidFill>
                  <a:srgbClr val="D96C8A"/>
                </a:solidFill>
                <a:latin typeface="Calibri"/>
              </a:rPr>
              <a:t>NEXT FOR LUMÉA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2024"/>
                </a:solidFill>
                <a:latin typeface="Georgia"/>
              </a:rPr>
              <a:t>Future Roadmap &amp; Project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F4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💳 Live Payment Gateway Integration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Direct integration with Razorpay and Cashfree webhooks for instant UPI QR code generation, credit/debit cards, and automated payment reconciliation.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9163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🤳 AI-Powered Webcam Shade Matcher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Client-side computer vision engine using TensorFlow.js face landmark detection to analyze skin undertones in natural lighting and recommend the ideal tint shade.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📲 Automated WhatsApp &amp; SMS Alerts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Instant order dispatch notifications, live delivery agent tracking links, and review requests powered by Gupshup / Twilio webhook messaging.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4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94B68"/>
                </a:solidFill>
                <a:latin typeface="Georgia"/>
              </a:rPr>
              <a:t>🌐 Regional Language Localization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B4146"/>
                </a:solidFill>
                <a:latin typeface="Calibri"/>
              </a:rPr>
              <a:t>Multilingual store localization (Hindi, Punjabi, English) to dramatically expand reach across diverse beauty customer segments in India.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1164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anjelasarangthem2129@gmail.com</cp:lastModifiedBy>
  <cp:revision>2</cp:revision>
  <dcterms:created xsi:type="dcterms:W3CDTF">2013-01-27T09:14:16Z</dcterms:created>
  <dcterms:modified xsi:type="dcterms:W3CDTF">2026-09-21T15:15:41Z</dcterms:modified>
  <cp:category/>
</cp:coreProperties>
</file>